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g"/>
  <Override PartName="/ppt/media/image6.jpg" ContentType="image/jpg"/>
  <Override PartName="/ppt/media/image7.jpg" ContentType="image/jpg"/>
  <Override PartName="/ppt/media/image9.jpg" ContentType="image/jpg"/>
  <Override PartName="/ppt/media/image11.jpg" ContentType="image/jpg"/>
  <Override PartName="/ppt/media/image13.jpg" ContentType="image/jpg"/>
  <Override PartName="/ppt/media/image14.jpg" ContentType="image/jpg"/>
  <Override PartName="/ppt/media/image16.jpg" ContentType="image/jpg"/>
  <Override PartName="/ppt/media/image1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5" r:id="rId7"/>
    <p:sldId id="267" r:id="rId8"/>
    <p:sldId id="268" r:id="rId9"/>
    <p:sldId id="269" r:id="rId10"/>
    <p:sldId id="270" r:id="rId11"/>
    <p:sldId id="273" r:id="rId12"/>
    <p:sldId id="276" r:id="rId13"/>
    <p:sldId id="280" r:id="rId14"/>
    <p:sldId id="281" r:id="rId15"/>
    <p:sldId id="283" r:id="rId16"/>
    <p:sldId id="284" r:id="rId17"/>
    <p:sldId id="286" r:id="rId18"/>
    <p:sldId id="287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3471" y="1003009"/>
            <a:ext cx="767715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1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03471" y="6723824"/>
            <a:ext cx="7694295" cy="1304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02254D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1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02254D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1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BE3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1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9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6481" y="1033574"/>
            <a:ext cx="11898630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1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467" y="2854631"/>
            <a:ext cx="8617585" cy="4693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02254D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028086" y="9486431"/>
            <a:ext cx="394780" cy="3802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BE3939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‹#›</a:t>
            </a:fld>
            <a:endParaRPr spc="-25" dirty="0">
              <a:latin typeface="Roboto"/>
              <a:cs typeface="Robo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471" y="9499194"/>
            <a:ext cx="12947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9F5EB"/>
                </a:solidFill>
                <a:latin typeface="Roboto"/>
                <a:cs typeface="Roboto"/>
              </a:rPr>
              <a:t>9/14/2026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93573" y="9499194"/>
            <a:ext cx="17856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9F5EB"/>
                </a:solidFill>
                <a:latin typeface="Roboto"/>
                <a:cs typeface="Roboto"/>
              </a:rPr>
              <a:t>Monalisha</a:t>
            </a:r>
            <a:r>
              <a:rPr sz="2100" spc="-100" dirty="0">
                <a:solidFill>
                  <a:srgbClr val="F9F5EB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rgbClr val="F9F5EB"/>
                </a:solidFill>
                <a:latin typeface="Roboto"/>
                <a:cs typeface="Roboto"/>
              </a:rPr>
              <a:t>Das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6171" y="9375243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F9F5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1143000" y="6639394"/>
            <a:ext cx="7694295" cy="658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4200" dirty="0">
                <a:latin typeface="Roboto"/>
                <a:cs typeface="Roboto"/>
              </a:rPr>
              <a:t>Project 7</a:t>
            </a:r>
            <a:endParaRPr sz="4200" dirty="0">
              <a:latin typeface="Roboto"/>
              <a:cs typeface="Roboto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1900"/>
              </a:spcBef>
            </a:pPr>
            <a:r>
              <a:rPr sz="9000" dirty="0">
                <a:solidFill>
                  <a:srgbClr val="F9F5EB"/>
                </a:solidFill>
                <a:latin typeface="Roboto"/>
                <a:cs typeface="Roboto"/>
              </a:rPr>
              <a:t>Disaster</a:t>
            </a:r>
            <a:r>
              <a:rPr sz="9000" spc="-265" dirty="0">
                <a:solidFill>
                  <a:srgbClr val="F9F5EB"/>
                </a:solidFill>
                <a:latin typeface="Roboto"/>
                <a:cs typeface="Roboto"/>
              </a:rPr>
              <a:t> </a:t>
            </a:r>
            <a:r>
              <a:rPr sz="9000" spc="-40" dirty="0">
                <a:solidFill>
                  <a:srgbClr val="F9F5EB"/>
                </a:solidFill>
                <a:latin typeface="Roboto"/>
                <a:cs typeface="Roboto"/>
              </a:rPr>
              <a:t>Tweet </a:t>
            </a:r>
            <a:r>
              <a:rPr sz="9000" spc="-114" dirty="0">
                <a:solidFill>
                  <a:srgbClr val="F9F5EB"/>
                </a:solidFill>
                <a:latin typeface="Roboto"/>
                <a:cs typeface="Roboto"/>
              </a:rPr>
              <a:t>Classification </a:t>
            </a:r>
            <a:r>
              <a:rPr sz="9000" dirty="0">
                <a:solidFill>
                  <a:srgbClr val="F9F5EB"/>
                </a:solidFill>
                <a:latin typeface="Roboto"/>
                <a:cs typeface="Roboto"/>
              </a:rPr>
              <a:t>with </a:t>
            </a:r>
            <a:r>
              <a:rPr sz="9000" spc="-25" dirty="0">
                <a:solidFill>
                  <a:srgbClr val="F9F5EB"/>
                </a:solidFill>
                <a:latin typeface="Roboto"/>
                <a:cs typeface="Roboto"/>
              </a:rPr>
              <a:t>NLP</a:t>
            </a:r>
            <a:endParaRPr sz="9000">
              <a:latin typeface="Roboto"/>
              <a:cs typeface="Robo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6ADDD-F2E0-47D0-85F5-56618ED6740D}"/>
              </a:ext>
            </a:extLst>
          </p:cNvPr>
          <p:cNvSpPr txBox="1"/>
          <p:nvPr/>
        </p:nvSpPr>
        <p:spPr>
          <a:xfrm>
            <a:off x="888231" y="4562059"/>
            <a:ext cx="12326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NEXT HIKES IT SOLUTIONS</a:t>
            </a:r>
            <a:endParaRPr lang="en-IN" sz="3200" dirty="0"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EA138-DCC0-529A-7603-28CA9CF75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0" y="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57" y="9375243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7500" spc="-10" dirty="0">
                <a:latin typeface="Roboto"/>
                <a:cs typeface="Roboto"/>
              </a:rPr>
              <a:t>Agenda</a:t>
            </a:r>
            <a:endParaRPr sz="7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51173" y="9490470"/>
            <a:ext cx="325755" cy="3488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spc="-25" dirty="0">
                <a:solidFill>
                  <a:srgbClr val="BE3939"/>
                </a:solidFill>
                <a:latin typeface="Roboto"/>
                <a:cs typeface="Roboto"/>
              </a:rPr>
              <a:t>2</a:t>
            </a:r>
            <a:endParaRPr sz="21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7039" y="2646361"/>
            <a:ext cx="7143115" cy="4828245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485775" indent="-473075">
              <a:lnSpc>
                <a:spcPct val="100000"/>
              </a:lnSpc>
              <a:spcBef>
                <a:spcPts val="2130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Introduction</a:t>
            </a:r>
            <a:r>
              <a:rPr sz="28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Project</a:t>
            </a:r>
            <a:r>
              <a:rPr sz="28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Overview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35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Data</a:t>
            </a:r>
            <a:r>
              <a:rPr sz="28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Overview</a:t>
            </a:r>
            <a:r>
              <a:rPr sz="28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Exploration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35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Data</a:t>
            </a:r>
            <a:r>
              <a:rPr sz="28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Preparation</a:t>
            </a:r>
            <a:r>
              <a:rPr sz="28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Feature</a:t>
            </a:r>
            <a:r>
              <a:rPr sz="28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Engineering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40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Modeling</a:t>
            </a:r>
            <a:r>
              <a:rPr sz="28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Setup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35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80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Comparison</a:t>
            </a:r>
            <a:r>
              <a:rPr sz="28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Selection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35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800" spc="-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Tuning</a:t>
            </a:r>
            <a:r>
              <a:rPr sz="28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02254D"/>
                </a:solidFill>
                <a:latin typeface="Roboto"/>
                <a:cs typeface="Roboto"/>
              </a:rPr>
              <a:t>Evaluation</a:t>
            </a:r>
            <a:endParaRPr sz="2800" dirty="0">
              <a:latin typeface="Roboto"/>
              <a:cs typeface="Roboto"/>
            </a:endParaRPr>
          </a:p>
          <a:p>
            <a:pPr marL="485775" indent="-473075">
              <a:lnSpc>
                <a:spcPct val="100000"/>
              </a:lnSpc>
              <a:spcBef>
                <a:spcPts val="2035"/>
              </a:spcBef>
              <a:buFont typeface="Roboto"/>
              <a:buAutoNum type="arabicPeriod"/>
              <a:tabLst>
                <a:tab pos="485775" algn="l"/>
              </a:tabLst>
            </a:pP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Deployment</a:t>
            </a:r>
            <a:r>
              <a:rPr sz="2800" spc="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800" spc="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Real</a:t>
            </a:r>
            <a:r>
              <a:rPr sz="2800" spc="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02254D"/>
                </a:solidFill>
                <a:latin typeface="Roboto"/>
                <a:cs typeface="Roboto"/>
              </a:rPr>
              <a:t>World</a:t>
            </a:r>
            <a:r>
              <a:rPr sz="2800" spc="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800" spc="-25" dirty="0">
                <a:solidFill>
                  <a:srgbClr val="02254D"/>
                </a:solidFill>
                <a:latin typeface="Roboto"/>
                <a:cs typeface="Roboto"/>
              </a:rPr>
              <a:t>Use</a:t>
            </a:r>
            <a:endParaRPr sz="2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6480" y="608203"/>
            <a:ext cx="11898630" cy="1168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sz="7500" dirty="0">
                <a:latin typeface="Roboto"/>
                <a:cs typeface="Roboto"/>
              </a:rPr>
              <a:t>Project</a:t>
            </a:r>
            <a:r>
              <a:rPr sz="7500" spc="-135" dirty="0">
                <a:latin typeface="Roboto"/>
                <a:cs typeface="Roboto"/>
              </a:rPr>
              <a:t> </a:t>
            </a:r>
            <a:r>
              <a:rPr sz="7500" spc="-20" dirty="0">
                <a:latin typeface="Roboto"/>
                <a:cs typeface="Roboto"/>
              </a:rPr>
              <a:t>Goal</a:t>
            </a:r>
            <a:endParaRPr sz="7500" dirty="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1692" y="9375241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6800" y="3930849"/>
            <a:ext cx="15240000" cy="4500463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Binary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classification</a:t>
            </a:r>
            <a:endParaRPr sz="240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095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Predict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whether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describes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real-world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or</a:t>
            </a:r>
            <a:r>
              <a:rPr sz="240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20" dirty="0">
                <a:solidFill>
                  <a:srgbClr val="02254D"/>
                </a:solidFill>
                <a:latin typeface="Roboto"/>
                <a:cs typeface="Roboto"/>
              </a:rPr>
              <a:t>not.</a:t>
            </a:r>
            <a:endParaRPr sz="240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5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Turn</a:t>
            </a:r>
            <a:r>
              <a:rPr sz="240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noisy,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short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text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into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clear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signal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for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downstream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triage.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Supervised</a:t>
            </a:r>
            <a:r>
              <a:rPr sz="2400" spc="9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learning</a:t>
            </a:r>
            <a:r>
              <a:rPr sz="2400" spc="10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approach</a:t>
            </a:r>
            <a:endParaRPr sz="240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100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Train</a:t>
            </a:r>
            <a:r>
              <a:rPr sz="240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on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7,613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that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were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hand-labeled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with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0/1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targets.</a:t>
            </a:r>
            <a:endParaRPr sz="240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4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Learn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patterns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from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language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phrasing,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not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external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context.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Practical</a:t>
            </a:r>
            <a:r>
              <a:rPr sz="2400" spc="8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detection</a:t>
            </a:r>
            <a:r>
              <a:rPr sz="2400" spc="8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focus</a:t>
            </a:r>
            <a:endParaRPr sz="2400" dirty="0">
              <a:latin typeface="Roboto"/>
              <a:cs typeface="Roboto"/>
            </a:endParaRPr>
          </a:p>
          <a:p>
            <a:pPr marL="235585" marR="76708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Optimize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for</a:t>
            </a:r>
            <a:r>
              <a:rPr sz="240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dependable</a:t>
            </a:r>
            <a:r>
              <a:rPr sz="240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classification</a:t>
            </a:r>
            <a:r>
              <a:rPr sz="240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performance,</a:t>
            </a:r>
            <a:r>
              <a:rPr sz="240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not</a:t>
            </a:r>
            <a:r>
              <a:rPr sz="240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perfect 	interpretation.</a:t>
            </a:r>
            <a:endParaRPr sz="240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4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Support</a:t>
            </a:r>
            <a:r>
              <a:rPr sz="240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rapid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filtering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so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humans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review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high-impact</a:t>
            </a:r>
            <a:r>
              <a:rPr sz="240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02254D"/>
                </a:solidFill>
                <a:latin typeface="Roboto"/>
                <a:cs typeface="Roboto"/>
              </a:rPr>
              <a:t>cases</a:t>
            </a:r>
            <a:r>
              <a:rPr sz="240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400" spc="-10" dirty="0">
                <a:solidFill>
                  <a:srgbClr val="02254D"/>
                </a:solidFill>
                <a:latin typeface="Roboto"/>
                <a:cs typeface="Roboto"/>
              </a:rPr>
              <a:t>faster.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992" y="9486431"/>
            <a:ext cx="4022090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Introduction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Project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Overview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59011" y="9486431"/>
            <a:ext cx="325755" cy="3488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lang="en-US" sz="2100" spc="-25" dirty="0">
                <a:solidFill>
                  <a:srgbClr val="BE3939"/>
                </a:solidFill>
                <a:latin typeface="Roboto"/>
                <a:cs typeface="Roboto"/>
              </a:rPr>
              <a:t>3</a:t>
            </a:r>
            <a:endParaRPr sz="2100" dirty="0">
              <a:latin typeface="Roboto"/>
              <a:cs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EBFDB-0962-6917-67B5-AF4C84A39F43}"/>
              </a:ext>
            </a:extLst>
          </p:cNvPr>
          <p:cNvSpPr txBox="1"/>
          <p:nvPr/>
        </p:nvSpPr>
        <p:spPr>
          <a:xfrm>
            <a:off x="906480" y="2201974"/>
            <a:ext cx="16009919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1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Roboto"/>
                <a:cs typeface="Roboto"/>
              </a:rPr>
              <a:t>Social</a:t>
            </a:r>
            <a:r>
              <a:rPr lang="en-US" sz="2400" spc="-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media</a:t>
            </a:r>
            <a:r>
              <a:rPr lang="en-US" sz="2400" spc="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is</a:t>
            </a:r>
            <a:r>
              <a:rPr lang="en-US" sz="2400" spc="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a</a:t>
            </a:r>
            <a:r>
              <a:rPr lang="en-US" sz="2400" spc="5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real-</a:t>
            </a:r>
            <a:r>
              <a:rPr lang="en-US" sz="2400" dirty="0">
                <a:latin typeface="Roboto"/>
                <a:cs typeface="Roboto"/>
              </a:rPr>
              <a:t>time</a:t>
            </a:r>
            <a:r>
              <a:rPr lang="en-US" sz="2400" spc="5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sensor - </a:t>
            </a:r>
            <a:r>
              <a:rPr lang="en-US" sz="2400" dirty="0">
                <a:latin typeface="Roboto"/>
                <a:cs typeface="Roboto"/>
              </a:rPr>
              <a:t>During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fast-</a:t>
            </a:r>
            <a:r>
              <a:rPr lang="en-US" sz="2400" dirty="0">
                <a:latin typeface="Roboto"/>
                <a:cs typeface="Roboto"/>
              </a:rPr>
              <a:t>moving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events,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tweets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arrive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in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huge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volumes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and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minutes matter.</a:t>
            </a:r>
            <a:endParaRPr lang="en-US" sz="24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Roboto"/>
                <a:cs typeface="Roboto"/>
              </a:rPr>
              <a:t>Signal</a:t>
            </a:r>
            <a:r>
              <a:rPr lang="en-US" sz="2400" spc="-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is</a:t>
            </a:r>
            <a:r>
              <a:rPr lang="en-US" sz="2400" spc="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mixed</a:t>
            </a:r>
            <a:r>
              <a:rPr lang="en-US" sz="2400" spc="-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with </a:t>
            </a:r>
            <a:r>
              <a:rPr lang="en-US" sz="2400" spc="-10" dirty="0">
                <a:latin typeface="Roboto"/>
                <a:cs typeface="Roboto"/>
              </a:rPr>
              <a:t>noise - </a:t>
            </a:r>
            <a:r>
              <a:rPr lang="en-US" sz="2400" dirty="0">
                <a:latin typeface="Roboto"/>
                <a:cs typeface="Roboto"/>
              </a:rPr>
              <a:t>People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use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disaster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words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casually,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so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raw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keyword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searches</a:t>
            </a:r>
            <a:r>
              <a:rPr lang="en-US" sz="2400" spc="-50" dirty="0">
                <a:latin typeface="Roboto"/>
                <a:cs typeface="Roboto"/>
              </a:rPr>
              <a:t> </a:t>
            </a:r>
            <a:r>
              <a:rPr lang="en-US" sz="2400" spc="-20" dirty="0">
                <a:latin typeface="Roboto"/>
                <a:cs typeface="Roboto"/>
              </a:rPr>
              <a:t>over-</a:t>
            </a:r>
            <a:r>
              <a:rPr lang="en-US" sz="2400" spc="-10" dirty="0">
                <a:latin typeface="Roboto"/>
                <a:cs typeface="Roboto"/>
              </a:rPr>
              <a:t>alert teams.</a:t>
            </a:r>
            <a:endParaRPr lang="en-US" sz="24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169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Roboto"/>
                <a:cs typeface="Roboto"/>
              </a:rPr>
              <a:t>Classification</a:t>
            </a:r>
            <a:r>
              <a:rPr lang="en-US" sz="2400" spc="-9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improves</a:t>
            </a:r>
            <a:r>
              <a:rPr lang="en-US" sz="2400" spc="-85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focus - </a:t>
            </a:r>
            <a:r>
              <a:rPr lang="en-US" sz="2400" dirty="0">
                <a:latin typeface="Roboto"/>
                <a:cs typeface="Roboto"/>
              </a:rPr>
              <a:t>Reliable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labels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help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analysts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prioritize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likely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emergencies</a:t>
            </a:r>
            <a:r>
              <a:rPr lang="en-US" sz="2400" spc="-60" dirty="0">
                <a:latin typeface="Roboto"/>
                <a:cs typeface="Roboto"/>
              </a:rPr>
              <a:t> </a:t>
            </a:r>
            <a:r>
              <a:rPr lang="en-US" sz="2400" dirty="0">
                <a:latin typeface="Roboto"/>
                <a:cs typeface="Roboto"/>
              </a:rPr>
              <a:t>in</a:t>
            </a:r>
            <a:r>
              <a:rPr lang="en-US" sz="2400" spc="-55" dirty="0">
                <a:latin typeface="Roboto"/>
                <a:cs typeface="Roboto"/>
              </a:rPr>
              <a:t> </a:t>
            </a:r>
            <a:r>
              <a:rPr lang="en-US" sz="2400" spc="-10" dirty="0">
                <a:latin typeface="Roboto"/>
                <a:cs typeface="Roboto"/>
              </a:rPr>
              <a:t>high-noise streams.</a:t>
            </a:r>
            <a:endParaRPr lang="en-US" sz="2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3466" y="3532179"/>
            <a:ext cx="8926334" cy="4396588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Why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scale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works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It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supports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fair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comparison,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tuning,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held-out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test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set.</a:t>
            </a:r>
            <a:endParaRPr sz="2050" dirty="0">
              <a:latin typeface="Roboto"/>
              <a:cs typeface="Roboto"/>
            </a:endParaRPr>
          </a:p>
          <a:p>
            <a:pPr marL="235585" marR="276225" indent="-223520">
              <a:lnSpc>
                <a:spcPct val="101499"/>
              </a:lnSpc>
              <a:spcBef>
                <a:spcPts val="30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Real-world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noise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makes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50" dirty="0">
                <a:solidFill>
                  <a:srgbClr val="02254D"/>
                </a:solidFill>
                <a:latin typeface="Roboto"/>
                <a:cs typeface="Roboto"/>
              </a:rPr>
              <a:t>a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practical</a:t>
            </a:r>
            <a:r>
              <a:rPr sz="2050" spc="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benchmark</a:t>
            </a:r>
            <a:r>
              <a:rPr sz="2050" spc="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dataset.</a:t>
            </a:r>
            <a:endParaRPr lang="en-US" sz="2050" spc="-10" dirty="0">
              <a:solidFill>
                <a:srgbClr val="02254D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endParaRPr lang="en-US" sz="1400" dirty="0">
              <a:solidFill>
                <a:srgbClr val="02254D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Missing</a:t>
            </a:r>
            <a:r>
              <a:rPr lang="en-US" sz="2750" spc="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fields</a:t>
            </a:r>
            <a:r>
              <a:rPr lang="en-US" sz="2750" spc="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to</a:t>
            </a:r>
            <a:r>
              <a:rPr lang="en-US" sz="2750" spc="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plan</a:t>
            </a:r>
            <a:r>
              <a:rPr lang="en-US" sz="2750" spc="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spc="-10" dirty="0">
                <a:solidFill>
                  <a:srgbClr val="02254D"/>
                </a:solidFill>
                <a:latin typeface="Roboto"/>
                <a:cs typeface="Roboto"/>
              </a:rPr>
              <a:t>around</a:t>
            </a:r>
            <a:endParaRPr lang="en-US" sz="27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095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b="1" dirty="0">
                <a:solidFill>
                  <a:schemeClr val="tx1"/>
                </a:solidFill>
                <a:latin typeface="Roboto"/>
                <a:cs typeface="Roboto"/>
              </a:rPr>
              <a:t>61</a:t>
            </a:r>
            <a:r>
              <a:rPr lang="en-US" sz="2050" b="1" spc="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have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no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keyword,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so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keyword-based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insights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are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chemeClr val="tx1"/>
                </a:solidFill>
                <a:latin typeface="Roboto"/>
                <a:cs typeface="Roboto"/>
              </a:rPr>
              <a:t>partial.</a:t>
            </a:r>
            <a:endParaRPr lang="en-US" sz="20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5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b="1" dirty="0">
                <a:solidFill>
                  <a:schemeClr val="tx1"/>
                </a:solidFill>
                <a:latin typeface="Roboto"/>
                <a:cs typeface="Roboto"/>
              </a:rPr>
              <a:t>2,533</a:t>
            </a:r>
            <a:r>
              <a:rPr lang="en-US" sz="2050" b="1" spc="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have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no</a:t>
            </a:r>
            <a:r>
              <a:rPr lang="en-US"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location,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limiting</a:t>
            </a:r>
            <a:r>
              <a:rPr lang="en-US"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geo-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specific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analysis.</a:t>
            </a:r>
            <a:endParaRPr lang="en-US" sz="20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Duplicates</a:t>
            </a:r>
            <a:r>
              <a:rPr lang="en-US" sz="27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that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bias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spc="-10" dirty="0">
                <a:solidFill>
                  <a:srgbClr val="02254D"/>
                </a:solidFill>
                <a:latin typeface="Roboto"/>
                <a:cs typeface="Roboto"/>
              </a:rPr>
              <a:t>results</a:t>
            </a:r>
            <a:endParaRPr lang="en-US" sz="27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100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b="1" dirty="0">
                <a:solidFill>
                  <a:schemeClr val="tx1"/>
                </a:solidFill>
                <a:latin typeface="Roboto"/>
                <a:cs typeface="Roboto"/>
              </a:rPr>
              <a:t>110 </a:t>
            </a:r>
            <a:r>
              <a:rPr lang="en-US" sz="2050" dirty="0">
                <a:solidFill>
                  <a:schemeClr val="tx1"/>
                </a:solidFill>
                <a:latin typeface="Roboto"/>
                <a:cs typeface="Roboto"/>
              </a:rPr>
              <a:t>tweet</a:t>
            </a:r>
            <a:r>
              <a:rPr lang="en-US" sz="2050" spc="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texts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repeat,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which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inflate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performance</a:t>
            </a:r>
            <a:r>
              <a:rPr lang="en-US"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if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not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handled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466" y="1835059"/>
            <a:ext cx="10526533" cy="142032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What’s</a:t>
            </a:r>
            <a:r>
              <a:rPr sz="275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75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data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b="1" dirty="0">
                <a:solidFill>
                  <a:schemeClr val="tx1"/>
                </a:solidFill>
                <a:latin typeface="Roboto"/>
                <a:cs typeface="Roboto"/>
              </a:rPr>
              <a:t>7,613</a:t>
            </a:r>
            <a:r>
              <a:rPr sz="2050" b="1" spc="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r>
              <a:rPr sz="2050" spc="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are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hand-labeled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as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5" dirty="0">
                <a:solidFill>
                  <a:srgbClr val="02254D"/>
                </a:solidFill>
                <a:latin typeface="Roboto"/>
                <a:cs typeface="Roboto"/>
              </a:rPr>
              <a:t>or 	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not.</a:t>
            </a:r>
            <a:endParaRPr sz="2050" dirty="0">
              <a:latin typeface="Roboto"/>
              <a:cs typeface="Roboto"/>
            </a:endParaRPr>
          </a:p>
          <a:p>
            <a:pPr marL="235585" marR="64769" indent="-223520">
              <a:lnSpc>
                <a:spcPct val="101499"/>
              </a:lnSpc>
              <a:spcBef>
                <a:spcPts val="30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Each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row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includes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id,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text,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plus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keyword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5" dirty="0">
                <a:solidFill>
                  <a:srgbClr val="02254D"/>
                </a:solidFill>
                <a:latin typeface="Roboto"/>
                <a:cs typeface="Roboto"/>
              </a:rPr>
              <a:t>and 	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location</a:t>
            </a:r>
            <a:r>
              <a:rPr sz="2050" spc="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fields.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03467" y="397484"/>
            <a:ext cx="1189863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dirty="0">
                <a:latin typeface="Roboto"/>
                <a:cs typeface="Roboto"/>
              </a:rPr>
              <a:t>Dataset</a:t>
            </a:r>
            <a:r>
              <a:rPr sz="7500" spc="-155" dirty="0">
                <a:latin typeface="Roboto"/>
                <a:cs typeface="Roboto"/>
              </a:rPr>
              <a:t> </a:t>
            </a:r>
            <a:r>
              <a:rPr sz="7500" dirty="0">
                <a:latin typeface="Roboto"/>
                <a:cs typeface="Roboto"/>
              </a:rPr>
              <a:t>At</a:t>
            </a:r>
            <a:r>
              <a:rPr sz="7500" spc="-150" dirty="0">
                <a:latin typeface="Roboto"/>
                <a:cs typeface="Roboto"/>
              </a:rPr>
              <a:t> </a:t>
            </a:r>
            <a:r>
              <a:rPr sz="7500" dirty="0">
                <a:latin typeface="Roboto"/>
                <a:cs typeface="Roboto"/>
              </a:rPr>
              <a:t>A</a:t>
            </a:r>
            <a:r>
              <a:rPr sz="7500" spc="-150" dirty="0">
                <a:latin typeface="Roboto"/>
                <a:cs typeface="Roboto"/>
              </a:rPr>
              <a:t> </a:t>
            </a:r>
            <a:r>
              <a:rPr sz="7500" spc="-10" dirty="0">
                <a:latin typeface="Roboto"/>
                <a:cs typeface="Roboto"/>
              </a:rPr>
              <a:t>Glance</a:t>
            </a:r>
            <a:endParaRPr sz="750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3467" y="9489466"/>
            <a:ext cx="363092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3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Overview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Exploration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53486" y="9489466"/>
            <a:ext cx="325755" cy="3488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lang="en-US" sz="2100" spc="-25" dirty="0">
                <a:solidFill>
                  <a:srgbClr val="BE3939"/>
                </a:solidFill>
                <a:latin typeface="Roboto"/>
                <a:cs typeface="Roboto"/>
              </a:rPr>
              <a:t>4</a:t>
            </a:r>
            <a:endParaRPr sz="2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pc="-495" dirty="0">
                <a:latin typeface="Roboto"/>
                <a:cs typeface="Roboto"/>
              </a:rPr>
              <a:t>T</a:t>
            </a:r>
            <a:r>
              <a:rPr spc="60" dirty="0">
                <a:latin typeface="Roboto"/>
                <a:cs typeface="Roboto"/>
              </a:rPr>
              <a:t>arget</a:t>
            </a:r>
            <a:r>
              <a:rPr spc="-36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Distribution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03467" y="2854631"/>
            <a:ext cx="8617585" cy="2909771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>
                <a:latin typeface="Roboto"/>
                <a:cs typeface="Roboto"/>
              </a:rPr>
              <a:t>Overall</a:t>
            </a:r>
            <a:r>
              <a:rPr spc="-3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class</a:t>
            </a:r>
            <a:r>
              <a:rPr spc="-35" dirty="0">
                <a:latin typeface="Roboto"/>
                <a:cs typeface="Roboto"/>
              </a:rPr>
              <a:t> </a:t>
            </a:r>
            <a:r>
              <a:rPr spc="-25" dirty="0">
                <a:latin typeface="Roboto"/>
                <a:cs typeface="Roboto"/>
              </a:rPr>
              <a:t>mix</a:t>
            </a: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About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57%</a:t>
            </a:r>
            <a:r>
              <a:rPr sz="2100" b="1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of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are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labeled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Not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Disaster.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remaining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43%</a:t>
            </a:r>
            <a:r>
              <a:rPr sz="2100" b="1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are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labeled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Disaster.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>
                <a:solidFill>
                  <a:schemeClr val="tx1"/>
                </a:solidFill>
                <a:latin typeface="Roboto"/>
                <a:cs typeface="Roboto"/>
              </a:rPr>
              <a:t>Why</a:t>
            </a:r>
            <a:r>
              <a:rPr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dirty="0">
                <a:solidFill>
                  <a:schemeClr val="tx1"/>
                </a:solidFill>
                <a:latin typeface="Roboto"/>
                <a:cs typeface="Roboto"/>
              </a:rPr>
              <a:t>balance</a:t>
            </a:r>
            <a:r>
              <a:rPr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pc="-10" dirty="0">
                <a:solidFill>
                  <a:schemeClr val="tx1"/>
                </a:solidFill>
                <a:latin typeface="Roboto"/>
                <a:cs typeface="Roboto"/>
              </a:rPr>
              <a:t>matters</a:t>
            </a: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split</a:t>
            </a:r>
            <a:r>
              <a:rPr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is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close</a:t>
            </a:r>
            <a:r>
              <a:rPr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enough</a:t>
            </a:r>
            <a:r>
              <a:rPr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to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avoid</a:t>
            </a:r>
            <a:r>
              <a:rPr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severe</a:t>
            </a:r>
            <a:r>
              <a:rPr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imbalance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issues.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Using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F1-score</a:t>
            </a:r>
            <a:r>
              <a:rPr sz="2100" b="1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is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</a:t>
            </a:r>
            <a:r>
              <a:rPr sz="2100" dirty="0">
                <a:latin typeface="Roboto"/>
                <a:cs typeface="Roboto"/>
              </a:rPr>
              <a:t>ppropriate</a:t>
            </a:r>
            <a:r>
              <a:rPr sz="2100" spc="-50" dirty="0">
                <a:latin typeface="Roboto"/>
                <a:cs typeface="Roboto"/>
              </a:rPr>
              <a:t> </a:t>
            </a:r>
            <a:r>
              <a:rPr sz="2100" dirty="0">
                <a:latin typeface="Roboto"/>
                <a:cs typeface="Roboto"/>
              </a:rPr>
              <a:t>because</a:t>
            </a:r>
            <a:r>
              <a:rPr sz="2100" spc="-45" dirty="0">
                <a:latin typeface="Roboto"/>
                <a:cs typeface="Roboto"/>
              </a:rPr>
              <a:t> </a:t>
            </a:r>
            <a:r>
              <a:rPr sz="2100" dirty="0">
                <a:latin typeface="Roboto"/>
                <a:cs typeface="Roboto"/>
              </a:rPr>
              <a:t>it</a:t>
            </a:r>
            <a:r>
              <a:rPr sz="2100" spc="-45" dirty="0">
                <a:latin typeface="Roboto"/>
                <a:cs typeface="Roboto"/>
              </a:rPr>
              <a:t> </a:t>
            </a:r>
            <a:r>
              <a:rPr sz="2100" dirty="0">
                <a:latin typeface="Roboto"/>
                <a:cs typeface="Roboto"/>
              </a:rPr>
              <a:t>balances</a:t>
            </a:r>
            <a:r>
              <a:rPr sz="2100" spc="-45" dirty="0">
                <a:latin typeface="Roboto"/>
                <a:cs typeface="Roboto"/>
              </a:rPr>
              <a:t> </a:t>
            </a:r>
            <a:r>
              <a:rPr sz="2100" dirty="0">
                <a:latin typeface="Roboto"/>
                <a:cs typeface="Roboto"/>
              </a:rPr>
              <a:t>precision</a:t>
            </a:r>
            <a:r>
              <a:rPr sz="2100" spc="-45" dirty="0">
                <a:latin typeface="Roboto"/>
                <a:cs typeface="Roboto"/>
              </a:rPr>
              <a:t> </a:t>
            </a:r>
            <a:r>
              <a:rPr sz="2100" dirty="0">
                <a:latin typeface="Roboto"/>
                <a:cs typeface="Roboto"/>
              </a:rPr>
              <a:t>and</a:t>
            </a:r>
            <a:r>
              <a:rPr sz="2100" spc="-45" dirty="0">
                <a:latin typeface="Roboto"/>
                <a:cs typeface="Roboto"/>
              </a:rPr>
              <a:t> </a:t>
            </a:r>
            <a:r>
              <a:rPr sz="2100" spc="-10" dirty="0">
                <a:latin typeface="Roboto"/>
                <a:cs typeface="Roboto"/>
              </a:rPr>
              <a:t>recall.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-1" b="45061"/>
          <a:stretch/>
        </p:blipFill>
        <p:spPr>
          <a:xfrm>
            <a:off x="1547968" y="6287936"/>
            <a:ext cx="6883596" cy="25212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363092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3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Overview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Exploration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53504" y="9489466"/>
            <a:ext cx="325755" cy="3488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lang="en-US" sz="2100" spc="-25" dirty="0">
                <a:solidFill>
                  <a:srgbClr val="BE3939"/>
                </a:solidFill>
                <a:latin typeface="Roboto"/>
                <a:cs typeface="Roboto"/>
              </a:rPr>
              <a:t> 5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3D79D7-3AC1-E8D7-CBD4-61B622A25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917" y="2313164"/>
            <a:ext cx="7667716" cy="636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448800" y="1358963"/>
            <a:ext cx="8344913" cy="12395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23520">
              <a:lnSpc>
                <a:spcPct val="100000"/>
              </a:lnSpc>
              <a:spcBef>
                <a:spcPts val="10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Some keywords were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strong signals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7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Several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keywords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aligned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heavily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with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real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labels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data.</a:t>
            </a:r>
            <a:endParaRPr sz="2050" dirty="0">
              <a:latin typeface="Roboto"/>
              <a:cs typeface="Roboto"/>
            </a:endParaRPr>
          </a:p>
          <a:p>
            <a:pPr marL="235585" marR="725170" indent="-223520">
              <a:lnSpc>
                <a:spcPct val="101499"/>
              </a:lnSpc>
              <a:spcBef>
                <a:spcPts val="295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These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terms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guide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feature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choices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error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investigation.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800" y="1358963"/>
            <a:ext cx="7543800" cy="15581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1920">
              <a:lnSpc>
                <a:spcPct val="100000"/>
              </a:lnSpc>
              <a:spcBef>
                <a:spcPts val="10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Keyword patterns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surfaced early</a:t>
            </a:r>
            <a:endParaRPr sz="2750" dirty="0">
              <a:latin typeface="Roboto"/>
              <a:cs typeface="Roboto"/>
            </a:endParaRPr>
          </a:p>
          <a:p>
            <a:pPr marL="235585" marR="85090" indent="-223520">
              <a:lnSpc>
                <a:spcPct val="101499"/>
              </a:lnSpc>
              <a:spcBef>
                <a:spcPts val="107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High-frequency</a:t>
            </a:r>
            <a:r>
              <a:rPr sz="2050" spc="8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keywords</a:t>
            </a:r>
            <a:r>
              <a:rPr sz="2050" spc="8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quickly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revealed</a:t>
            </a:r>
            <a:r>
              <a:rPr sz="2050" spc="9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recurring</a:t>
            </a:r>
            <a:r>
              <a:rPr sz="2050" spc="9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disaster-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related themes.</a:t>
            </a:r>
            <a:endParaRPr sz="20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295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Keyword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counts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helped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spot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which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terms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were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common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noise.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16167" y="124404"/>
            <a:ext cx="1189863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Roboto"/>
                <a:cs typeface="Roboto"/>
              </a:rPr>
              <a:t>Early</a:t>
            </a:r>
            <a:r>
              <a:rPr sz="6600" spc="-10" dirty="0">
                <a:latin typeface="Roboto"/>
                <a:cs typeface="Roboto"/>
              </a:rPr>
              <a:t> </a:t>
            </a:r>
            <a:r>
              <a:rPr sz="6600" dirty="0">
                <a:latin typeface="Roboto"/>
                <a:cs typeface="Roboto"/>
              </a:rPr>
              <a:t>Data</a:t>
            </a:r>
            <a:r>
              <a:rPr sz="6600" spc="-10" dirty="0">
                <a:latin typeface="Roboto"/>
                <a:cs typeface="Roboto"/>
              </a:rPr>
              <a:t> Signals</a:t>
            </a:r>
            <a:endParaRPr sz="660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467" y="9489466"/>
            <a:ext cx="363092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3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Overview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Exploration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53486" y="9489466"/>
            <a:ext cx="325755" cy="3488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lang="en-US" sz="2100" spc="-25" dirty="0">
                <a:solidFill>
                  <a:srgbClr val="BE3939"/>
                </a:solidFill>
                <a:latin typeface="Roboto"/>
                <a:cs typeface="Roboto"/>
              </a:rPr>
              <a:t>6</a:t>
            </a:r>
            <a:endParaRPr sz="2100" dirty="0">
              <a:latin typeface="Roboto"/>
              <a:cs typeface="Roboto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90A106-AC45-A703-F704-43221A96C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95601"/>
              </p:ext>
            </p:extLst>
          </p:nvPr>
        </p:nvGraphicFramePr>
        <p:xfrm>
          <a:off x="10129763" y="2917082"/>
          <a:ext cx="7086600" cy="622124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72020">
                  <a:extLst>
                    <a:ext uri="{9D8B030D-6E8A-4147-A177-3AD203B41FA5}">
                      <a16:colId xmlns:a16="http://schemas.microsoft.com/office/drawing/2014/main" val="2988649763"/>
                    </a:ext>
                  </a:extLst>
                </a:gridCol>
                <a:gridCol w="2272020">
                  <a:extLst>
                    <a:ext uri="{9D8B030D-6E8A-4147-A177-3AD203B41FA5}">
                      <a16:colId xmlns:a16="http://schemas.microsoft.com/office/drawing/2014/main" val="1309133124"/>
                    </a:ext>
                  </a:extLst>
                </a:gridCol>
                <a:gridCol w="2542560">
                  <a:extLst>
                    <a:ext uri="{9D8B030D-6E8A-4147-A177-3AD203B41FA5}">
                      <a16:colId xmlns:a16="http://schemas.microsoft.com/office/drawing/2014/main" val="2030079971"/>
                    </a:ext>
                  </a:extLst>
                </a:gridCol>
              </a:tblGrid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keyword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mean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count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96431202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debris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1.000000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37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485032397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derailment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1.000000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39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412613324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wreckage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1.000000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39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545299676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outbreak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0.975000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40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77501710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oil%20spill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0.973684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38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545887445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typhoon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0.973684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38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364408346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suicide%20bombing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0.969697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33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1794409527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suicide%20bomber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0.967742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31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950047318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bombing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0.931034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29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32990886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suicide%20bomb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0.914286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35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113298833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rescuers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0.914286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35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5991011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nuclear%20disaster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0.911765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34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145992566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evacuated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0.888889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36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2866491842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razed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0.885714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35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1540763654"/>
                  </a:ext>
                </a:extLst>
              </a:tr>
              <a:tr h="388828"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wildfire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>
                          <a:effectLst/>
                        </a:rPr>
                        <a:t>0.878788</a:t>
                      </a:r>
                    </a:p>
                  </a:txBody>
                  <a:tcPr marL="69033" marR="69033" marT="34516" marB="345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b="0" dirty="0">
                          <a:effectLst/>
                        </a:rPr>
                        <a:t>33</a:t>
                      </a:r>
                    </a:p>
                  </a:txBody>
                  <a:tcPr marL="69033" marR="69033" marT="34516" marB="34516"/>
                </a:tc>
                <a:extLst>
                  <a:ext uri="{0D108BD9-81ED-4DB2-BD59-A6C34878D82A}">
                    <a16:rowId xmlns:a16="http://schemas.microsoft.com/office/drawing/2014/main" val="3063055253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1DCC7D5-B58D-B883-5154-64FDB3F1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53" y="3028271"/>
            <a:ext cx="8915400" cy="623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26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Tweets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Were</a:t>
            </a:r>
            <a:r>
              <a:rPr spc="-6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Cleaned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3959" y="2975609"/>
            <a:ext cx="8091805" cy="43357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Normalize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d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raw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 text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Lowercase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every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so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words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match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consistently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across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posts.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Collapse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extra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spaces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to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keep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tokens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clean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comparable.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Remove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d</a:t>
            </a:r>
            <a:r>
              <a:rPr sz="275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noisy</a:t>
            </a:r>
            <a:r>
              <a:rPr sz="275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patterns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Strip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URLs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@mentions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that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rarely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describe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actual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event.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Drop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punctuation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numbers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to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focus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on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meaningful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terms.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Keep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ing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hashtag</a:t>
            </a:r>
            <a:r>
              <a:rPr sz="275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meaning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Remove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#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symbol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but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keep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hashtag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word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itself.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preserves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topic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cues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wildfire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or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cafire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text.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2781300"/>
            <a:ext cx="6883786" cy="51628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4954905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6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Preparation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Feature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Engineering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7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1040" y="1780451"/>
            <a:ext cx="11898630" cy="1168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Preparing</a:t>
            </a:r>
            <a:r>
              <a:rPr spc="-2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Model</a:t>
            </a:r>
            <a:r>
              <a:rPr spc="-204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Text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44" y="3180679"/>
            <a:ext cx="8073856" cy="4338367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Tokenize</a:t>
            </a:r>
            <a:r>
              <a:rPr sz="275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cleaned</a:t>
            </a:r>
            <a:r>
              <a:rPr sz="275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Split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each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cleaned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into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word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tokens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for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consistent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inputs.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turns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free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text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into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units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count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weight.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Remove</a:t>
            </a:r>
            <a:r>
              <a:rPr sz="275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common</a:t>
            </a:r>
            <a:r>
              <a:rPr sz="275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stop</a:t>
            </a:r>
            <a:r>
              <a:rPr sz="275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words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Filter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frequent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words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“the”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“and”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using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</a:t>
            </a:r>
            <a:r>
              <a:rPr sz="2100" spc="-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offline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list.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Keep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meaningful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terms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by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dropping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very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short,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low-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signal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tokens.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Result:</a:t>
            </a:r>
            <a:r>
              <a:rPr sz="275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cleaner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signal</a:t>
            </a:r>
            <a:endParaRPr sz="2750" dirty="0">
              <a:latin typeface="Roboto"/>
              <a:cs typeface="Roboto"/>
            </a:endParaRPr>
          </a:p>
          <a:p>
            <a:pPr marL="238760" marR="24765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Less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noise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means</a:t>
            </a:r>
            <a:r>
              <a:rPr sz="2100" spc="-7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TF-IDF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focuses</a:t>
            </a:r>
            <a:r>
              <a:rPr sz="210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on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informative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disaster-related terms.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600" y="750422"/>
            <a:ext cx="7612242" cy="45890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4954905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6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Preparation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Feature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Engineering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8</a:t>
            </a:fld>
            <a:endParaRPr spc="-25" dirty="0">
              <a:latin typeface="Roboto"/>
              <a:cs typeface="Roboto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3A90F3-520C-1F2B-A450-B2C87D774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66215"/>
              </p:ext>
            </p:extLst>
          </p:nvPr>
        </p:nvGraphicFramePr>
        <p:xfrm>
          <a:off x="9843543" y="5321830"/>
          <a:ext cx="7374313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9713">
                  <a:extLst>
                    <a:ext uri="{9D8B030D-6E8A-4147-A177-3AD203B41FA5}">
                      <a16:colId xmlns:a16="http://schemas.microsoft.com/office/drawing/2014/main" val="2261811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6149340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834047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fontAlgn="t"/>
                      <a:endParaRPr lang="en-IN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clean_text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195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our deeds are the reason of this earthquake ma...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[our, deeds, are, the, reason, of, this, earth...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153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forest fire near la </a:t>
                      </a:r>
                      <a:r>
                        <a:rPr lang="en-US" sz="1800" dirty="0" err="1">
                          <a:effectLst/>
                        </a:rPr>
                        <a:t>ronge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sask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canada</a:t>
                      </a:r>
                      <a:endParaRPr lang="en-US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[forest, fire, near, la, </a:t>
                      </a:r>
                      <a:r>
                        <a:rPr lang="en-US" sz="1800" dirty="0" err="1">
                          <a:effectLst/>
                        </a:rPr>
                        <a:t>ronge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sask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canada</a:t>
                      </a:r>
                      <a:r>
                        <a:rPr lang="en-US" sz="1800" dirty="0">
                          <a:effectLst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1147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all residents asked to shelter in place are be...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[all, residents, asked, to, shelter, in, place...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9865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people receive wildfires evacuation orders in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[people, receive, wildfires, evacuation, order...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4396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t"/>
                      <a:r>
                        <a:rPr lang="en-IN" sz="1800">
                          <a:effectLst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just got sent this photo from ruby alaska as s...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[just, got, sent, this, photo, from, ruby, ala...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99188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8DFAF6D-8BF2-1742-5AAE-270847D81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1975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793449" y="1651793"/>
            <a:ext cx="7010400" cy="18767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317625">
              <a:lnSpc>
                <a:spcPct val="100000"/>
              </a:lnSpc>
              <a:spcBef>
                <a:spcPts val="10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Casual language 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in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non-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disasters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7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Non-disaster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use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“disaster”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terms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as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slang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or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exaggeration.</a:t>
            </a:r>
            <a:endParaRPr sz="2050" dirty="0">
              <a:latin typeface="Roboto"/>
              <a:cs typeface="Roboto"/>
            </a:endParaRPr>
          </a:p>
          <a:p>
            <a:pPr marL="235585" marR="287020" indent="-223520">
              <a:lnSpc>
                <a:spcPct val="101499"/>
              </a:lnSpc>
              <a:spcBef>
                <a:spcPts val="295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They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tend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to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read</a:t>
            </a:r>
            <a:r>
              <a:rPr sz="205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everyday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conversation,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jokes,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or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opinions.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889" y="1595593"/>
            <a:ext cx="8174511" cy="2066289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Words</a:t>
            </a:r>
            <a:r>
              <a:rPr sz="2750" spc="-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that</a:t>
            </a:r>
            <a:r>
              <a:rPr sz="275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signal</a:t>
            </a:r>
            <a:r>
              <a:rPr sz="275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real</a:t>
            </a:r>
            <a:r>
              <a:rPr sz="275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events</a:t>
            </a:r>
            <a:endParaRPr sz="2750" dirty="0">
              <a:latin typeface="Roboto"/>
              <a:cs typeface="Roboto"/>
            </a:endParaRPr>
          </a:p>
          <a:p>
            <a:pPr marL="235585" marR="51689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often</a:t>
            </a:r>
            <a:r>
              <a:rPr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center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5" dirty="0">
                <a:solidFill>
                  <a:srgbClr val="02254D"/>
                </a:solidFill>
                <a:latin typeface="Roboto"/>
                <a:cs typeface="Roboto"/>
              </a:rPr>
              <a:t>on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incidents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b="1" spc="30" dirty="0">
                <a:solidFill>
                  <a:schemeClr val="tx1"/>
                </a:solidFill>
                <a:latin typeface="Roboto"/>
                <a:cs typeface="Roboto"/>
              </a:rPr>
              <a:t>fire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lang="en-US"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b="1" spc="-10" dirty="0">
                <a:solidFill>
                  <a:schemeClr val="tx1"/>
                </a:solidFill>
                <a:latin typeface="Roboto"/>
                <a:cs typeface="Roboto"/>
              </a:rPr>
              <a:t>emergency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.</a:t>
            </a:r>
            <a:endParaRPr sz="20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30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They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commonly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describe</a:t>
            </a:r>
            <a:r>
              <a:rPr sz="2050" spc="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impact,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response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actions,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urgent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updates.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40889" y="427193"/>
            <a:ext cx="1189863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dirty="0">
                <a:latin typeface="Roboto"/>
                <a:cs typeface="Roboto"/>
              </a:rPr>
              <a:t>Language By </a:t>
            </a:r>
            <a:r>
              <a:rPr sz="7500" spc="-10" dirty="0">
                <a:latin typeface="Roboto"/>
                <a:cs typeface="Roboto"/>
              </a:rPr>
              <a:t>Class</a:t>
            </a:r>
            <a:endParaRPr sz="750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485" y="9489466"/>
            <a:ext cx="4954905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6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Preparation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Feature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Engineering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9</a:t>
            </a:fld>
            <a:endParaRPr spc="-25" dirty="0">
              <a:latin typeface="Roboto"/>
              <a:cs typeface="Roboto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81E4506-AE1A-0F3A-8C77-92E040BDD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533400" y="3647335"/>
            <a:ext cx="83820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79B8069-34A0-9E89-69E4-DF042B84C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107649" y="3647335"/>
            <a:ext cx="83820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88245" y="772273"/>
            <a:ext cx="8141951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latin typeface="Roboto"/>
                <a:cs typeface="Roboto"/>
              </a:rPr>
              <a:t>Tweet</a:t>
            </a:r>
            <a:r>
              <a:rPr sz="5400" spc="-85" dirty="0">
                <a:latin typeface="Roboto"/>
                <a:cs typeface="Roboto"/>
              </a:rPr>
              <a:t> </a:t>
            </a:r>
            <a:r>
              <a:rPr sz="5400" dirty="0">
                <a:latin typeface="Roboto"/>
                <a:cs typeface="Roboto"/>
              </a:rPr>
              <a:t>Structure</a:t>
            </a:r>
            <a:r>
              <a:rPr sz="5400" spc="-80" dirty="0">
                <a:latin typeface="Roboto"/>
                <a:cs typeface="Roboto"/>
              </a:rPr>
              <a:t> </a:t>
            </a:r>
            <a:r>
              <a:rPr sz="5400" spc="-10" dirty="0">
                <a:latin typeface="Roboto"/>
                <a:cs typeface="Roboto"/>
              </a:rPr>
              <a:t>Insights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167" y="1839116"/>
            <a:ext cx="8144509" cy="320675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Length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differences</a:t>
            </a:r>
            <a:r>
              <a:rPr sz="2750" spc="-1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by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class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100" spc="-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trend</a:t>
            </a:r>
            <a:r>
              <a:rPr sz="2100" spc="-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slightly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longer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100" spc="-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characters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words.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Non-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skew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shorter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more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conversational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overall.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Structure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adds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signal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Length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help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separate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real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events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from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casual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“disaster”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talk.</a:t>
            </a:r>
            <a:endParaRPr sz="2100" dirty="0">
              <a:latin typeface="Roboto"/>
              <a:cs typeface="Roboto"/>
            </a:endParaRPr>
          </a:p>
          <a:p>
            <a:pPr marL="238760" marR="193040" indent="-226695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Combining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structure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with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text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features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improve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classification reliability.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166" y="5157056"/>
            <a:ext cx="7694433" cy="41100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4954905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Data</a:t>
            </a:r>
            <a:r>
              <a:rPr sz="2100" spc="-6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Preparation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Feature</a:t>
            </a:r>
            <a:r>
              <a:rPr sz="2100" spc="-5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Engineering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10</a:t>
            </a:fld>
            <a:endParaRPr spc="-25" dirty="0">
              <a:latin typeface="Roboto"/>
              <a:cs typeface="Roboto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E624D0-5555-648A-37CA-32AA2AA5C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9045436" y="81876"/>
            <a:ext cx="8320406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3469C2E-5766-2C2E-A8EF-3806E6358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030195" y="4655430"/>
            <a:ext cx="8335647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latin typeface="Roboto"/>
                <a:cs typeface="Roboto"/>
              </a:rPr>
              <a:t>Train</a:t>
            </a:r>
            <a:r>
              <a:rPr spc="-2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Test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485" y="2854631"/>
            <a:ext cx="8049895" cy="43357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What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went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into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We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used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cleaned,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stop-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word-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reduced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text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as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input.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keeps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pipeline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focused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on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meaning,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not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formatting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noise.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How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data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was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split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were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split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into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80%</a:t>
            </a:r>
            <a:r>
              <a:rPr sz="2100" b="1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training</a:t>
            </a:r>
            <a:r>
              <a:rPr sz="2100" b="1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20%</a:t>
            </a:r>
            <a:r>
              <a:rPr sz="2100" b="1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testing</a:t>
            </a:r>
            <a:r>
              <a:rPr sz="2100" b="1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sets.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test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set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stays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unseen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until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final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performance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reporting.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Keeping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classes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balanced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b="1" spc="-60" dirty="0">
                <a:solidFill>
                  <a:schemeClr val="tx1"/>
                </a:solidFill>
                <a:latin typeface="Roboto"/>
                <a:cs typeface="Roboto"/>
              </a:rPr>
              <a:t>stratified</a:t>
            </a:r>
            <a:r>
              <a:rPr sz="2100" b="1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split</a:t>
            </a:r>
            <a:r>
              <a:rPr sz="2100" b="1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preserved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vs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non-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disaster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ratio.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makes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results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more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reliable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when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comparing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models.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0" y="2065664"/>
            <a:ext cx="6883786" cy="51628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1877695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Modeling</a:t>
            </a:r>
            <a:r>
              <a:rPr sz="2100" spc="-12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Setup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11</a:t>
            </a:fld>
            <a:endParaRPr spc="-25" dirty="0">
              <a:latin typeface="Roboto"/>
              <a:cs typeface="Roboto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927C97C-4B2C-9A2E-CBFF-DFD9CF209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058" y="7390218"/>
            <a:ext cx="64347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Training rows : 6090</a:t>
            </a:r>
            <a:r>
              <a:rPr lang="en-US" altLang="en-US" sz="280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Testing rows : 1523 </a:t>
            </a:r>
            <a:endParaRPr kumimoji="0" lang="en-US" altLang="en-US" sz="3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8512" y="499695"/>
            <a:ext cx="11898630" cy="1168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sz="7500" dirty="0">
                <a:latin typeface="Roboto"/>
                <a:cs typeface="Roboto"/>
              </a:rPr>
              <a:t>Models</a:t>
            </a:r>
            <a:r>
              <a:rPr sz="7500" spc="-20" dirty="0">
                <a:latin typeface="Roboto"/>
                <a:cs typeface="Roboto"/>
              </a:rPr>
              <a:t> </a:t>
            </a:r>
            <a:r>
              <a:rPr sz="7500" spc="-10" dirty="0">
                <a:latin typeface="Roboto"/>
                <a:cs typeface="Roboto"/>
              </a:rPr>
              <a:t>Compared</a:t>
            </a:r>
            <a:endParaRPr sz="7500" dirty="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1692" y="9375241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1692" y="2201974"/>
            <a:ext cx="8533130" cy="6794552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Algorithms</a:t>
            </a:r>
            <a:r>
              <a:rPr sz="2750" spc="10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evaluated</a:t>
            </a:r>
            <a:endParaRPr sz="2750" dirty="0">
              <a:latin typeface="Roboto"/>
              <a:cs typeface="Roboto"/>
            </a:endParaRPr>
          </a:p>
          <a:p>
            <a:pPr marL="235585" marR="17399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We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compared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Logistic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Regression,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Multinomial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Naive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Bayes,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Random 	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Forest,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Linear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SVM.</a:t>
            </a:r>
            <a:endParaRPr sz="20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Fair,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consistent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20" dirty="0">
                <a:solidFill>
                  <a:srgbClr val="02254D"/>
                </a:solidFill>
                <a:latin typeface="Roboto"/>
                <a:cs typeface="Roboto"/>
              </a:rPr>
              <a:t>setup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Each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used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same</a:t>
            </a:r>
            <a:r>
              <a:rPr sz="2050" spc="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TF-IDF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feature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pipeline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for</a:t>
            </a:r>
            <a:r>
              <a:rPr sz="20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apples-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to-apples 	testing.</a:t>
            </a:r>
            <a:endParaRPr sz="20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Selection</a:t>
            </a:r>
            <a:r>
              <a:rPr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method</a:t>
            </a:r>
            <a:endParaRPr sz="27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095"/>
              </a:spcBef>
              <a:buFont typeface="Times New Roman"/>
              <a:buChar char="•"/>
              <a:tabLst>
                <a:tab pos="236220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We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used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stratified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k-fold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cross-validation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focused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on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b="1" dirty="0">
                <a:solidFill>
                  <a:schemeClr val="tx1"/>
                </a:solidFill>
                <a:latin typeface="Roboto"/>
                <a:cs typeface="Roboto"/>
              </a:rPr>
              <a:t>F1-</a:t>
            </a:r>
            <a:r>
              <a:rPr sz="2050" b="1" spc="-10" dirty="0">
                <a:solidFill>
                  <a:schemeClr val="tx1"/>
                </a:solidFill>
                <a:latin typeface="Roboto"/>
                <a:cs typeface="Roboto"/>
              </a:rPr>
              <a:t>score</a:t>
            </a:r>
            <a:r>
              <a:rPr sz="205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  <a:endParaRPr lang="en-US" sz="2050" spc="-1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Best</a:t>
            </a:r>
            <a:r>
              <a:rPr lang="en-US" sz="27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performer</a:t>
            </a:r>
            <a:r>
              <a:rPr lang="en-US" sz="27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spc="-35" dirty="0">
                <a:solidFill>
                  <a:srgbClr val="02254D"/>
                </a:solidFill>
                <a:latin typeface="Roboto"/>
                <a:cs typeface="Roboto"/>
              </a:rPr>
              <a:t>CV</a:t>
            </a:r>
            <a:endParaRPr lang="en-US" sz="27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095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Logistic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Regression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delivered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top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mean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F1</a:t>
            </a:r>
            <a:r>
              <a:rPr lang="en-US" sz="2050" spc="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at</a:t>
            </a:r>
            <a:r>
              <a:rPr lang="en-US" sz="2050" spc="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050" b="1" spc="-10" dirty="0">
                <a:solidFill>
                  <a:schemeClr val="tx1"/>
                </a:solidFill>
                <a:latin typeface="Roboto"/>
                <a:cs typeface="Roboto"/>
              </a:rPr>
              <a:t>0.735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.</a:t>
            </a:r>
            <a:endParaRPr lang="en-US" sz="20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5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Fold-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to-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fold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variation</a:t>
            </a:r>
            <a:r>
              <a:rPr lang="en-US" sz="205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stayed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low,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indicating</a:t>
            </a:r>
            <a:r>
              <a:rPr lang="en-US" sz="205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stable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generalization.</a:t>
            </a:r>
            <a:endParaRPr lang="en-US" sz="20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How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close</a:t>
            </a:r>
            <a:r>
              <a:rPr lang="en-US" sz="27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rgbClr val="02254D"/>
                </a:solidFill>
                <a:latin typeface="Roboto"/>
                <a:cs typeface="Roboto"/>
              </a:rPr>
              <a:t>were</a:t>
            </a:r>
            <a:r>
              <a:rPr lang="en-US" sz="2750" spc="6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750" spc="-10" dirty="0">
                <a:solidFill>
                  <a:srgbClr val="02254D"/>
                </a:solidFill>
                <a:latin typeface="Roboto"/>
                <a:cs typeface="Roboto"/>
              </a:rPr>
              <a:t>alternatives?</a:t>
            </a:r>
            <a:endParaRPr lang="en-US" sz="27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1100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Naive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Bayes,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Linear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SVM,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Random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Forest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scored</a:t>
            </a:r>
            <a:r>
              <a:rPr lang="en-US"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just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10" dirty="0">
                <a:solidFill>
                  <a:srgbClr val="02254D"/>
                </a:solidFill>
                <a:latin typeface="Roboto"/>
                <a:cs typeface="Roboto"/>
              </a:rPr>
              <a:t>below.</a:t>
            </a:r>
            <a:endParaRPr lang="en-US" sz="2050" dirty="0">
              <a:latin typeface="Roboto"/>
              <a:cs typeface="Roboto"/>
            </a:endParaRPr>
          </a:p>
          <a:p>
            <a:pPr marL="236220" indent="-223520">
              <a:lnSpc>
                <a:spcPct val="100000"/>
              </a:lnSpc>
              <a:spcBef>
                <a:spcPts val="334"/>
              </a:spcBef>
              <a:buFont typeface="Times New Roman"/>
              <a:buChar char="•"/>
              <a:tabLst>
                <a:tab pos="236220" algn="l"/>
              </a:tabLst>
            </a:pP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lang="en-US"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winner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led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by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consistency,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not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dramatic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dirty="0">
                <a:solidFill>
                  <a:srgbClr val="02254D"/>
                </a:solidFill>
                <a:latin typeface="Roboto"/>
                <a:cs typeface="Roboto"/>
              </a:rPr>
              <a:t>score</a:t>
            </a:r>
            <a:r>
              <a:rPr lang="en-US"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050" spc="-20" dirty="0">
                <a:solidFill>
                  <a:srgbClr val="02254D"/>
                </a:solidFill>
                <a:latin typeface="Roboto"/>
                <a:cs typeface="Roboto"/>
              </a:rPr>
              <a:t>gap.</a:t>
            </a:r>
            <a:endParaRPr lang="en-US" sz="205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992" y="9486431"/>
            <a:ext cx="3952240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Comparison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Selection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12</a:t>
            </a:fld>
            <a:endParaRPr spc="-25" dirty="0">
              <a:latin typeface="Roboto"/>
              <a:cs typeface="Roboto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AE5D06-988A-DF46-B34C-45E4D4015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3390900"/>
            <a:ext cx="8202757" cy="527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Tuning</a:t>
            </a:r>
            <a:r>
              <a:rPr spc="-30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485" y="2854631"/>
            <a:ext cx="8591550" cy="390144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What we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tuned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marR="975360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Grid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search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varied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vocabulary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size,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n-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grams,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and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regularization strength.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Best</a:t>
            </a:r>
            <a:r>
              <a:rPr sz="275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configuration</a:t>
            </a:r>
            <a:r>
              <a:rPr sz="275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found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Top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settings: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3,000</a:t>
            </a:r>
            <a:r>
              <a:rPr sz="2100" b="1" spc="-9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TF-IDF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features,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unigrams,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and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C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=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spc="-25" dirty="0">
                <a:solidFill>
                  <a:schemeClr val="tx1"/>
                </a:solidFill>
                <a:latin typeface="Roboto"/>
                <a:cs typeface="Roboto"/>
              </a:rPr>
              <a:t>1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Why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this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choice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works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marR="5080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It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kept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model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simple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while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improving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consistency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across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validation folds.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2078" y="3096123"/>
            <a:ext cx="6883786" cy="51628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343407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</a:t>
            </a:r>
            <a:r>
              <a:rPr sz="2100" spc="-11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Tuning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7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Evaluation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13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88245" y="398149"/>
            <a:ext cx="11898630" cy="1168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Test</a:t>
            </a:r>
            <a:r>
              <a:rPr spc="-1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Set</a:t>
            </a:r>
            <a:r>
              <a:rPr spc="-10" dirty="0">
                <a:latin typeface="Roboto"/>
                <a:cs typeface="Roboto"/>
              </a:rPr>
              <a:t> 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167" y="2092023"/>
            <a:ext cx="7987665" cy="6102953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Headline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results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on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unseen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Overall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test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accuracy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was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0.821</a:t>
            </a:r>
            <a:r>
              <a:rPr sz="2100" b="1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on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held-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out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set.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Precision</a:t>
            </a:r>
            <a:r>
              <a:rPr sz="2750" spc="-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vs.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recall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20" dirty="0">
                <a:solidFill>
                  <a:schemeClr val="tx1"/>
                </a:solidFill>
                <a:latin typeface="Roboto"/>
                <a:cs typeface="Roboto"/>
              </a:rPr>
              <a:t>trade-</a:t>
            </a:r>
            <a:r>
              <a:rPr sz="2750" spc="-25" dirty="0">
                <a:solidFill>
                  <a:schemeClr val="tx1"/>
                </a:solidFill>
                <a:latin typeface="Roboto"/>
                <a:cs typeface="Roboto"/>
              </a:rPr>
              <a:t>off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Precision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reached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0.841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so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predicted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disasters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are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often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correct.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Recall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was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0.719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meaning</a:t>
            </a: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some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real</a:t>
            </a: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disasters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were</a:t>
            </a: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missed.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Balanced</a:t>
            </a:r>
            <a:r>
              <a:rPr sz="2750" spc="-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quality</a:t>
            </a:r>
            <a:r>
              <a:rPr sz="2750" spc="-1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signal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F1-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score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was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0.775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reflecting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overall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detection</a:t>
            </a:r>
            <a:r>
              <a:rPr sz="2100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strength.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Best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fit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for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triage: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flag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likely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disasters,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then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review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misses.</a:t>
            </a:r>
            <a:endParaRPr lang="en-US" sz="2100" spc="-1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en-US" sz="2750" dirty="0">
                <a:solidFill>
                  <a:schemeClr val="tx1"/>
                </a:solidFill>
                <a:latin typeface="Roboto"/>
                <a:cs typeface="Roboto"/>
              </a:rPr>
              <a:t>What</a:t>
            </a:r>
            <a:r>
              <a:rPr lang="en-US" sz="2750" spc="-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lang="en-US" sz="2750" spc="-1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chemeClr val="tx1"/>
                </a:solidFill>
                <a:latin typeface="Roboto"/>
                <a:cs typeface="Roboto"/>
              </a:rPr>
              <a:t>error</a:t>
            </a:r>
            <a:r>
              <a:rPr lang="en-US" sz="2750" spc="-1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750" dirty="0">
                <a:solidFill>
                  <a:schemeClr val="tx1"/>
                </a:solidFill>
                <a:latin typeface="Roboto"/>
                <a:cs typeface="Roboto"/>
              </a:rPr>
              <a:t>pattern</a:t>
            </a:r>
            <a:r>
              <a:rPr lang="en-US" sz="2750" spc="-10" dirty="0">
                <a:solidFill>
                  <a:schemeClr val="tx1"/>
                </a:solidFill>
                <a:latin typeface="Roboto"/>
                <a:cs typeface="Roboto"/>
              </a:rPr>
              <a:t> suggests</a:t>
            </a:r>
            <a:endParaRPr lang="en-US"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marR="5080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lang="en-US"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model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misses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real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disaster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more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often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than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it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raises</a:t>
            </a:r>
            <a:r>
              <a:rPr lang="en-US"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spc="-10" dirty="0">
                <a:solidFill>
                  <a:schemeClr val="tx1"/>
                </a:solidFill>
                <a:latin typeface="Roboto"/>
                <a:cs typeface="Roboto"/>
              </a:rPr>
              <a:t>false alarms.</a:t>
            </a:r>
            <a:endParaRPr lang="en-US"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This</a:t>
            </a:r>
            <a:r>
              <a:rPr lang="en-US"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creates</a:t>
            </a:r>
            <a:r>
              <a:rPr lang="en-US"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a</a:t>
            </a:r>
            <a:r>
              <a:rPr lang="en-US" sz="210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chemeClr val="tx1"/>
                </a:solidFill>
                <a:latin typeface="Roboto"/>
                <a:cs typeface="Roboto"/>
              </a:rPr>
              <a:t>“qui</a:t>
            </a:r>
            <a:r>
              <a:rPr lang="en-US" sz="2100" dirty="0">
                <a:solidFill>
                  <a:srgbClr val="02254D"/>
                </a:solidFill>
                <a:latin typeface="Roboto"/>
                <a:cs typeface="Roboto"/>
              </a:rPr>
              <a:t>et</a:t>
            </a:r>
            <a:r>
              <a:rPr lang="en-US"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rgbClr val="02254D"/>
                </a:solidFill>
                <a:latin typeface="Roboto"/>
                <a:cs typeface="Roboto"/>
              </a:rPr>
              <a:t>failure”</a:t>
            </a:r>
            <a:r>
              <a:rPr lang="en-US"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rgbClr val="02254D"/>
                </a:solidFill>
                <a:latin typeface="Roboto"/>
                <a:cs typeface="Roboto"/>
              </a:rPr>
              <a:t>risk</a:t>
            </a:r>
            <a:r>
              <a:rPr lang="en-US"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rgbClr val="02254D"/>
                </a:solidFill>
                <a:latin typeface="Roboto"/>
                <a:cs typeface="Roboto"/>
              </a:rPr>
              <a:t>when</a:t>
            </a:r>
            <a:r>
              <a:rPr lang="en-US"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spc="-10" dirty="0">
                <a:solidFill>
                  <a:srgbClr val="02254D"/>
                </a:solidFill>
                <a:latin typeface="Roboto"/>
                <a:cs typeface="Roboto"/>
              </a:rPr>
              <a:t>monitoring</a:t>
            </a:r>
            <a:r>
              <a:rPr lang="en-US"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dirty="0">
                <a:solidFill>
                  <a:srgbClr val="02254D"/>
                </a:solidFill>
                <a:latin typeface="Roboto"/>
                <a:cs typeface="Roboto"/>
              </a:rPr>
              <a:t>real-time</a:t>
            </a:r>
            <a:r>
              <a:rPr lang="en-US"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lang="en-US" sz="2100" spc="-10" dirty="0">
                <a:solidFill>
                  <a:srgbClr val="02254D"/>
                </a:solidFill>
                <a:latin typeface="Roboto"/>
                <a:cs typeface="Roboto"/>
              </a:rPr>
              <a:t>events.</a:t>
            </a:r>
            <a:endParaRPr lang="en-US"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170" y="312333"/>
            <a:ext cx="6458526" cy="4191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343407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</a:t>
            </a:r>
            <a:r>
              <a:rPr sz="2100" spc="-11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Tuning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7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Evaluation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14</a:t>
            </a:fld>
            <a:endParaRPr spc="-25" dirty="0">
              <a:latin typeface="Roboto"/>
              <a:cs typeface="Roboto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D171753-8BF6-49DD-E97F-28E5F5BD6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4170" y="4686299"/>
            <a:ext cx="6458526" cy="4580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Generalization</a:t>
            </a:r>
            <a:r>
              <a:rPr spc="-16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Check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400" y="3848100"/>
            <a:ext cx="8373109" cy="320675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Train</a:t>
            </a:r>
            <a:r>
              <a:rPr sz="275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vs.</a:t>
            </a:r>
            <a:r>
              <a:rPr sz="275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test</a:t>
            </a:r>
            <a:r>
              <a:rPr sz="275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alignment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9395" marR="646430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9395" algn="l"/>
              </a:tabLst>
            </a:pP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Training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accuracy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reached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0.861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indicating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strong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fit</a:t>
            </a:r>
            <a:r>
              <a:rPr sz="2100" spc="-6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on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20" dirty="0">
                <a:solidFill>
                  <a:schemeClr val="tx1"/>
                </a:solidFill>
                <a:latin typeface="Roboto"/>
                <a:cs typeface="Roboto"/>
              </a:rPr>
              <a:t>seen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tweets.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Test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accuracy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was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0.821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showing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similar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performance</a:t>
            </a:r>
            <a:r>
              <a:rPr sz="2100" spc="-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on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new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data.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What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gap</a:t>
            </a:r>
            <a:r>
              <a:rPr sz="2750" spc="-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implies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chemeClr val="tx1"/>
                </a:solidFill>
                <a:latin typeface="Roboto"/>
                <a:cs typeface="Roboto"/>
              </a:rPr>
              <a:t>train-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test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difference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was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about</a:t>
            </a:r>
            <a:r>
              <a:rPr sz="2100" spc="-5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0.040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,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a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modest</a:t>
            </a:r>
            <a:r>
              <a:rPr sz="2100" spc="-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drop.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This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suggests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the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classifier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generalizes</a:t>
            </a:r>
            <a:r>
              <a:rPr sz="2100" spc="-6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well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rather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than</a:t>
            </a:r>
            <a:r>
              <a:rPr sz="2100" spc="-7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overfitting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.</a:t>
            </a:r>
            <a:endParaRPr sz="21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2078" y="3096123"/>
            <a:ext cx="6883786" cy="51628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85" y="9489466"/>
            <a:ext cx="343407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</a:t>
            </a:r>
            <a:r>
              <a:rPr sz="2100" spc="-11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Tuning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7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Evaluation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15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89088" y="6783520"/>
            <a:ext cx="8535912" cy="106324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What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this means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in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practice</a:t>
            </a:r>
            <a:endParaRPr sz="2750" dirty="0">
              <a:latin typeface="Roboto"/>
              <a:cs typeface="Roboto"/>
            </a:endParaRPr>
          </a:p>
          <a:p>
            <a:pPr marL="235585" marR="508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Human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review</a:t>
            </a:r>
            <a:r>
              <a:rPr sz="2050" spc="8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remains</a:t>
            </a:r>
            <a:r>
              <a:rPr sz="2050" spc="7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important</a:t>
            </a:r>
            <a:r>
              <a:rPr sz="2050" spc="8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5" dirty="0">
                <a:solidFill>
                  <a:srgbClr val="02254D"/>
                </a:solidFill>
                <a:latin typeface="Roboto"/>
                <a:cs typeface="Roboto"/>
              </a:rPr>
              <a:t>for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ambiguous,</a:t>
            </a:r>
            <a:r>
              <a:rPr sz="2050" spc="8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high-impact</a:t>
            </a:r>
            <a:r>
              <a:rPr sz="2050" spc="9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alerts.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568" y="4433337"/>
            <a:ext cx="8307312" cy="142032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Language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the model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misreads</a:t>
            </a:r>
            <a:endParaRPr sz="2750" dirty="0">
              <a:latin typeface="Roboto"/>
              <a:cs typeface="Roboto"/>
            </a:endParaRPr>
          </a:p>
          <a:p>
            <a:pPr marL="235585" marR="23114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Sarcasm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jokes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can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look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real 	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emergencies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wording.</a:t>
            </a:r>
            <a:endParaRPr sz="2050" dirty="0">
              <a:latin typeface="Roboto"/>
              <a:cs typeface="Roboto"/>
            </a:endParaRPr>
          </a:p>
          <a:p>
            <a:pPr marL="235585" marR="67945" indent="-223520">
              <a:lnSpc>
                <a:spcPct val="101499"/>
              </a:lnSpc>
              <a:spcBef>
                <a:spcPts val="30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Metaphors</a:t>
            </a:r>
            <a:r>
              <a:rPr sz="2050" spc="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like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“this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is</a:t>
            </a:r>
            <a:r>
              <a:rPr sz="2050" spc="3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050" spc="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disaster”</a:t>
            </a:r>
            <a:r>
              <a:rPr sz="2050" spc="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20" dirty="0">
                <a:solidFill>
                  <a:srgbClr val="02254D"/>
                </a:solidFill>
                <a:latin typeface="Roboto"/>
                <a:cs typeface="Roboto"/>
              </a:rPr>
              <a:t>blur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050" spc="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intended</a:t>
            </a:r>
            <a:r>
              <a:rPr sz="2050" spc="5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meaning.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088" y="2313164"/>
            <a:ext cx="9678911" cy="142032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Misclassifications</a:t>
            </a:r>
            <a:r>
              <a:rPr sz="275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chemeClr val="tx1"/>
                </a:solidFill>
                <a:latin typeface="Roboto"/>
                <a:cs typeface="Roboto"/>
              </a:rPr>
              <a:t>in</a:t>
            </a:r>
            <a:r>
              <a:rPr sz="2750" spc="-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chemeClr val="tx1"/>
                </a:solidFill>
                <a:latin typeface="Roboto"/>
                <a:cs typeface="Roboto"/>
              </a:rPr>
              <a:t>context</a:t>
            </a:r>
            <a:endParaRPr sz="27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5585" marR="346710" indent="-223520">
              <a:lnSpc>
                <a:spcPct val="101499"/>
              </a:lnSpc>
              <a:spcBef>
                <a:spcPts val="106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b="1" dirty="0">
                <a:solidFill>
                  <a:schemeClr val="tx1"/>
                </a:solidFill>
                <a:latin typeface="Roboto"/>
                <a:cs typeface="Roboto"/>
              </a:rPr>
              <a:t>273</a:t>
            </a:r>
            <a:r>
              <a:rPr sz="2050" b="1" spc="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test</a:t>
            </a:r>
            <a:r>
              <a:rPr sz="2050" spc="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tweets</a:t>
            </a:r>
            <a:r>
              <a:rPr sz="2050" spc="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were</a:t>
            </a:r>
            <a:r>
              <a:rPr sz="2050" spc="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chemeClr val="tx1"/>
                </a:solidFill>
                <a:latin typeface="Roboto"/>
                <a:cs typeface="Roboto"/>
              </a:rPr>
              <a:t>labeled 	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incorrectly,</a:t>
            </a:r>
            <a:r>
              <a:rPr sz="2050" spc="2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despite</a:t>
            </a:r>
            <a:r>
              <a:rPr sz="2050" spc="4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strong</a:t>
            </a:r>
            <a:r>
              <a:rPr sz="2050" spc="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chemeClr val="tx1"/>
                </a:solidFill>
                <a:latin typeface="Roboto"/>
                <a:cs typeface="Roboto"/>
              </a:rPr>
              <a:t>overall results.</a:t>
            </a:r>
            <a:endParaRPr sz="205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35585" marR="36830" indent="-223520">
              <a:lnSpc>
                <a:spcPct val="101499"/>
              </a:lnSpc>
              <a:spcBef>
                <a:spcPts val="300"/>
              </a:spcBef>
              <a:buFont typeface="Times New Roman"/>
              <a:buChar char="•"/>
              <a:tabLst>
                <a:tab pos="236854" algn="l"/>
              </a:tabLst>
            </a:pP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Many</a:t>
            </a:r>
            <a:r>
              <a:rPr sz="2050" spc="2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errors</a:t>
            </a:r>
            <a:r>
              <a:rPr sz="2050" spc="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come</a:t>
            </a:r>
            <a:r>
              <a:rPr sz="2050" spc="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from</a:t>
            </a:r>
            <a:r>
              <a:rPr sz="2050" spc="30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chemeClr val="tx1"/>
                </a:solidFill>
                <a:latin typeface="Roboto"/>
                <a:cs typeface="Roboto"/>
              </a:rPr>
              <a:t>limited </a:t>
            </a:r>
            <a:r>
              <a:rPr sz="2050" dirty="0">
                <a:solidFill>
                  <a:schemeClr val="tx1"/>
                </a:solidFill>
                <a:latin typeface="Roboto"/>
                <a:cs typeface="Roboto"/>
              </a:rPr>
              <a:t>context</a:t>
            </a:r>
            <a:r>
              <a:rPr sz="2050" spc="5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short,</a:t>
            </a:r>
            <a:r>
              <a:rPr sz="2050" spc="7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dirty="0">
                <a:solidFill>
                  <a:srgbClr val="02254D"/>
                </a:solidFill>
                <a:latin typeface="Roboto"/>
                <a:cs typeface="Roboto"/>
              </a:rPr>
              <a:t>standalone</a:t>
            </a:r>
            <a:r>
              <a:rPr sz="2050" spc="6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050" spc="-10" dirty="0">
                <a:solidFill>
                  <a:srgbClr val="02254D"/>
                </a:solidFill>
                <a:latin typeface="Roboto"/>
                <a:cs typeface="Roboto"/>
              </a:rPr>
              <a:t>tweets.</a:t>
            </a:r>
            <a:endParaRPr sz="205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-10" dirty="0">
                <a:latin typeface="Roboto"/>
                <a:cs typeface="Roboto"/>
              </a:rPr>
              <a:t>Where</a:t>
            </a:r>
            <a:r>
              <a:rPr sz="7500" spc="-315" dirty="0">
                <a:latin typeface="Roboto"/>
                <a:cs typeface="Roboto"/>
              </a:rPr>
              <a:t> </a:t>
            </a:r>
            <a:r>
              <a:rPr sz="7500" dirty="0">
                <a:latin typeface="Roboto"/>
                <a:cs typeface="Roboto"/>
              </a:rPr>
              <a:t>The</a:t>
            </a:r>
            <a:r>
              <a:rPr sz="7500" spc="-65" dirty="0">
                <a:latin typeface="Roboto"/>
                <a:cs typeface="Roboto"/>
              </a:rPr>
              <a:t> </a:t>
            </a:r>
            <a:r>
              <a:rPr sz="7500" dirty="0">
                <a:latin typeface="Roboto"/>
                <a:cs typeface="Roboto"/>
              </a:rPr>
              <a:t>Model</a:t>
            </a:r>
            <a:r>
              <a:rPr sz="7500" spc="-65" dirty="0">
                <a:latin typeface="Roboto"/>
                <a:cs typeface="Roboto"/>
              </a:rPr>
              <a:t> </a:t>
            </a:r>
            <a:r>
              <a:rPr sz="7500" spc="-10" dirty="0">
                <a:latin typeface="Roboto"/>
                <a:cs typeface="Roboto"/>
              </a:rPr>
              <a:t>Struggles</a:t>
            </a:r>
            <a:endParaRPr sz="75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485" y="9489466"/>
            <a:ext cx="343407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Model</a:t>
            </a:r>
            <a:r>
              <a:rPr sz="2100" spc="-11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Tuning</a:t>
            </a:r>
            <a:r>
              <a:rPr sz="2100" spc="-7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7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BE3939"/>
                </a:solidFill>
                <a:latin typeface="Roboto"/>
                <a:cs typeface="Roboto"/>
              </a:rPr>
              <a:t>Evaluation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>
                <a:latin typeface="Roboto"/>
                <a:cs typeface="Roboto"/>
              </a:rPr>
              <a:t>16</a:t>
            </a:fld>
            <a:endParaRPr spc="-25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6167" y="9378275"/>
            <a:ext cx="16449675" cy="0"/>
          </a:xfrm>
          <a:custGeom>
            <a:avLst/>
            <a:gdLst/>
            <a:ahLst/>
            <a:cxnLst/>
            <a:rect l="l" t="t" r="r" b="b"/>
            <a:pathLst>
              <a:path w="16449675">
                <a:moveTo>
                  <a:pt x="0" y="0"/>
                </a:moveTo>
                <a:lnTo>
                  <a:pt x="16449636" y="0"/>
                </a:lnTo>
              </a:path>
            </a:pathLst>
          </a:custGeom>
          <a:ln w="19050">
            <a:solidFill>
              <a:srgbClr val="BE39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Roboto"/>
                <a:cs typeface="Roboto"/>
              </a:rPr>
              <a:t>Deployment</a:t>
            </a:r>
            <a:r>
              <a:rPr spc="-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Ready </a:t>
            </a:r>
            <a:r>
              <a:rPr spc="-10" dirty="0">
                <a:latin typeface="Roboto"/>
                <a:cs typeface="Roboto"/>
              </a:rPr>
              <a:t>Output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467" y="2854631"/>
            <a:ext cx="8479155" cy="461772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Packaged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model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artifact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vectorizer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classifier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are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stored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together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as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single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pickle</a:t>
            </a:r>
            <a:r>
              <a:rPr sz="2100" spc="-5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file.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Consistent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inference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steps</a:t>
            </a:r>
            <a:endParaRPr sz="2750" dirty="0">
              <a:latin typeface="Roboto"/>
              <a:cs typeface="Roboto"/>
            </a:endParaRPr>
          </a:p>
          <a:p>
            <a:pPr marL="238760" marR="390525" indent="-226695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New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tweets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run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through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same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cleaning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stop-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word</a:t>
            </a:r>
            <a:r>
              <a:rPr sz="2100" spc="-4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removal logic.</a:t>
            </a:r>
            <a:endParaRPr sz="2100" dirty="0">
              <a:latin typeface="Roboto"/>
              <a:cs typeface="Roboto"/>
            </a:endParaRPr>
          </a:p>
          <a:p>
            <a:pPr marL="238760" marR="817244" indent="-226695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This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prevents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training-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serving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mismatch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keeps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predictions reliable.</a:t>
            </a:r>
            <a:endParaRPr sz="2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Ready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for</a:t>
            </a:r>
            <a:r>
              <a:rPr sz="2750" spc="-1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dirty="0">
                <a:solidFill>
                  <a:srgbClr val="02254D"/>
                </a:solidFill>
                <a:latin typeface="Roboto"/>
                <a:cs typeface="Roboto"/>
              </a:rPr>
              <a:t>an</a:t>
            </a:r>
            <a:r>
              <a:rPr sz="2750" spc="-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750" spc="-25" dirty="0">
                <a:solidFill>
                  <a:srgbClr val="02254D"/>
                </a:solidFill>
                <a:latin typeface="Roboto"/>
                <a:cs typeface="Roboto"/>
              </a:rPr>
              <a:t>API</a:t>
            </a:r>
            <a:endParaRPr sz="275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107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Load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the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pickle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in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backend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service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and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expose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100" spc="-2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/predict</a:t>
            </a:r>
            <a:r>
              <a:rPr sz="2100" spc="-2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spc="-10" dirty="0">
                <a:solidFill>
                  <a:srgbClr val="02254D"/>
                </a:solidFill>
                <a:latin typeface="Roboto"/>
                <a:cs typeface="Roboto"/>
              </a:rPr>
              <a:t>endpoint.</a:t>
            </a:r>
            <a:endParaRPr sz="2100" dirty="0">
              <a:latin typeface="Roboto"/>
              <a:cs typeface="Roboto"/>
            </a:endParaRPr>
          </a:p>
          <a:p>
            <a:pPr marL="238760" indent="-22606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38760" algn="l"/>
              </a:tabLst>
            </a:pP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Return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a</a:t>
            </a:r>
            <a:r>
              <a:rPr sz="2100" spc="-35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clear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02254D"/>
                </a:solidFill>
                <a:latin typeface="Roboto"/>
                <a:cs typeface="Roboto"/>
              </a:rPr>
              <a:t>label:</a:t>
            </a:r>
            <a:r>
              <a:rPr sz="2100" spc="-40" dirty="0">
                <a:solidFill>
                  <a:srgbClr val="02254D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Disaster</a:t>
            </a:r>
            <a:r>
              <a:rPr sz="2100" b="1" spc="-4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chemeClr val="tx1"/>
                </a:solidFill>
                <a:latin typeface="Roboto"/>
                <a:cs typeface="Roboto"/>
              </a:rPr>
              <a:t>or</a:t>
            </a:r>
            <a:r>
              <a:rPr sz="2100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chemeClr val="tx1"/>
                </a:solidFill>
                <a:latin typeface="Roboto"/>
                <a:cs typeface="Roboto"/>
              </a:rPr>
              <a:t>Not</a:t>
            </a:r>
            <a:r>
              <a:rPr sz="2100" b="1" spc="-35" dirty="0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2100" b="1" spc="-10" dirty="0">
                <a:solidFill>
                  <a:schemeClr val="tx1"/>
                </a:solidFill>
                <a:latin typeface="Roboto"/>
                <a:cs typeface="Roboto"/>
              </a:rPr>
              <a:t>Disaster</a:t>
            </a:r>
            <a:r>
              <a:rPr sz="210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  <a:endParaRPr sz="210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2078" y="3096123"/>
            <a:ext cx="6883786" cy="51628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3467" y="9489466"/>
            <a:ext cx="3808729" cy="377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Deployment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and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Real</a:t>
            </a:r>
            <a:r>
              <a:rPr sz="2100" spc="-25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dirty="0">
                <a:solidFill>
                  <a:srgbClr val="BE3939"/>
                </a:solidFill>
                <a:latin typeface="Roboto"/>
                <a:cs typeface="Roboto"/>
              </a:rPr>
              <a:t>World</a:t>
            </a:r>
            <a:r>
              <a:rPr sz="2100" spc="-30" dirty="0">
                <a:solidFill>
                  <a:srgbClr val="BE3939"/>
                </a:solidFill>
                <a:latin typeface="Roboto"/>
                <a:cs typeface="Roboto"/>
              </a:rPr>
              <a:t> </a:t>
            </a:r>
            <a:r>
              <a:rPr sz="2100" spc="-25" dirty="0">
                <a:solidFill>
                  <a:srgbClr val="BE3939"/>
                </a:solidFill>
                <a:latin typeface="Roboto"/>
                <a:cs typeface="Roboto"/>
              </a:rPr>
              <a:t>Use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13D24-2AAA-CF9E-BFB4-A037D5B64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71500"/>
            <a:ext cx="171450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1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1469</Words>
  <Application>Microsoft Office PowerPoint</Application>
  <PresentationFormat>Custom</PresentationFormat>
  <Paragraphs>250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Algerian</vt:lpstr>
      <vt:lpstr>Arial</vt:lpstr>
      <vt:lpstr>Roboto</vt:lpstr>
      <vt:lpstr>Times New Roman</vt:lpstr>
      <vt:lpstr>Office Theme</vt:lpstr>
      <vt:lpstr>Disaster Tweet Classification with NLP</vt:lpstr>
      <vt:lpstr>Agenda</vt:lpstr>
      <vt:lpstr>Project Goal</vt:lpstr>
      <vt:lpstr>Dataset At A Glance</vt:lpstr>
      <vt:lpstr>Target Distribution</vt:lpstr>
      <vt:lpstr>Early Data Signals</vt:lpstr>
      <vt:lpstr>How Tweets Were Cleaned</vt:lpstr>
      <vt:lpstr>Preparing Model Text</vt:lpstr>
      <vt:lpstr>Language By Class</vt:lpstr>
      <vt:lpstr>Tweet Structure Insights</vt:lpstr>
      <vt:lpstr>Train Test Setup</vt:lpstr>
      <vt:lpstr>Models Compared</vt:lpstr>
      <vt:lpstr>Tuning The Model</vt:lpstr>
      <vt:lpstr>Test Set Performance</vt:lpstr>
      <vt:lpstr>Generalization Check</vt:lpstr>
      <vt:lpstr>Where The Model Struggles</vt:lpstr>
      <vt:lpstr>Deployment Ready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Monalisha Das</cp:lastModifiedBy>
  <cp:revision>1</cp:revision>
  <dcterms:created xsi:type="dcterms:W3CDTF">2026-09-14T10:59:04Z</dcterms:created>
  <dcterms:modified xsi:type="dcterms:W3CDTF">2026-09-15T06:56:35Z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2026-09-14T00:00:00Z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2026-09-14T00:00:00Z</vt:filetime>
  </property>
  <property fmtid="{D5CDD505-2E9C-101B-9397-08002B2CF9AE}" pid="7" name="Producer">
    <vt:lpwstr>Adobe Express</vt:lpwstr>
  </property>
</Properties>
</file>